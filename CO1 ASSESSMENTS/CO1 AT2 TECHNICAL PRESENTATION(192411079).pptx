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Times New Roman Bold" panose="02020803070505020304" pitchFamily="18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1854056"/>
            <a:ext cx="11301259" cy="1539797"/>
          </a:xfrm>
          <a:custGeom>
            <a:avLst/>
            <a:gdLst/>
            <a:ahLst/>
            <a:cxnLst/>
            <a:rect l="l" t="t" r="r" b="b"/>
            <a:pathLst>
              <a:path w="11301259" h="1539797">
                <a:moveTo>
                  <a:pt x="0" y="0"/>
                </a:moveTo>
                <a:lnTo>
                  <a:pt x="11301258" y="0"/>
                </a:lnTo>
                <a:lnTo>
                  <a:pt x="11301258" y="1539796"/>
                </a:lnTo>
                <a:lnTo>
                  <a:pt x="0" y="1539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647174" cy="1437339"/>
          </a:xfrm>
          <a:custGeom>
            <a:avLst/>
            <a:gdLst/>
            <a:ahLst/>
            <a:cxnLst/>
            <a:rect l="l" t="t" r="r" b="b"/>
            <a:pathLst>
              <a:path w="4647174" h="1437339">
                <a:moveTo>
                  <a:pt x="0" y="0"/>
                </a:moveTo>
                <a:lnTo>
                  <a:pt x="4647174" y="0"/>
                </a:lnTo>
                <a:lnTo>
                  <a:pt x="4647174" y="1437339"/>
                </a:lnTo>
                <a:lnTo>
                  <a:pt x="0" y="143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707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453790" y="8833837"/>
            <a:ext cx="6257765" cy="1453163"/>
          </a:xfrm>
          <a:custGeom>
            <a:avLst/>
            <a:gdLst/>
            <a:ahLst/>
            <a:cxnLst/>
            <a:rect l="l" t="t" r="r" b="b"/>
            <a:pathLst>
              <a:path w="6257765" h="1453163">
                <a:moveTo>
                  <a:pt x="0" y="0"/>
                </a:moveTo>
                <a:lnTo>
                  <a:pt x="6257765" y="0"/>
                </a:lnTo>
                <a:lnTo>
                  <a:pt x="6257765" y="1453163"/>
                </a:lnTo>
                <a:lnTo>
                  <a:pt x="0" y="1453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07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320697" y="6124359"/>
            <a:ext cx="12083458" cy="54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CSA1110 - OBJECT ORIENTED ANALYSIS AND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20697" y="4072248"/>
            <a:ext cx="11389575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APPLYING GoF DESIGN PATTERNS IN ONLINE SHOPPING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54123" y="7348430"/>
            <a:ext cx="2979753" cy="481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05600" y="8045114"/>
            <a:ext cx="4599956" cy="481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TEJASWINI M (192411079)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8641" y="638628"/>
            <a:ext cx="1877047" cy="2213769"/>
          </a:xfrm>
          <a:custGeom>
            <a:avLst/>
            <a:gdLst/>
            <a:ahLst/>
            <a:cxnLst/>
            <a:rect l="l" t="t" r="r" b="b"/>
            <a:pathLst>
              <a:path w="1877047" h="2213769">
                <a:moveTo>
                  <a:pt x="0" y="0"/>
                </a:moveTo>
                <a:lnTo>
                  <a:pt x="1877047" y="0"/>
                </a:lnTo>
                <a:lnTo>
                  <a:pt x="1877047" y="2213769"/>
                </a:lnTo>
                <a:lnTo>
                  <a:pt x="0" y="2213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99061" y="629103"/>
            <a:ext cx="2355489" cy="2085519"/>
          </a:xfrm>
          <a:custGeom>
            <a:avLst/>
            <a:gdLst/>
            <a:ahLst/>
            <a:cxnLst/>
            <a:rect l="l" t="t" r="r" b="b"/>
            <a:pathLst>
              <a:path w="2355489" h="2085519">
                <a:moveTo>
                  <a:pt x="0" y="0"/>
                </a:moveTo>
                <a:lnTo>
                  <a:pt x="2355489" y="0"/>
                </a:lnTo>
                <a:lnTo>
                  <a:pt x="2355489" y="2085518"/>
                </a:lnTo>
                <a:lnTo>
                  <a:pt x="0" y="2085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50453" y="2852397"/>
            <a:ext cx="6226353" cy="6783748"/>
          </a:xfrm>
          <a:custGeom>
            <a:avLst/>
            <a:gdLst/>
            <a:ahLst/>
            <a:cxnLst/>
            <a:rect l="l" t="t" r="r" b="b"/>
            <a:pathLst>
              <a:path w="6226353" h="6783748">
                <a:moveTo>
                  <a:pt x="0" y="0"/>
                </a:moveTo>
                <a:lnTo>
                  <a:pt x="6226353" y="0"/>
                </a:lnTo>
                <a:lnTo>
                  <a:pt x="6226353" y="6783747"/>
                </a:lnTo>
                <a:lnTo>
                  <a:pt x="0" y="67837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393809" y="1550646"/>
            <a:ext cx="7500383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3369" y="3578341"/>
            <a:ext cx="8487083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ONLINE SHOPPING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7165" y="4495074"/>
            <a:ext cx="5977070" cy="340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2"/>
              </a:lnSpc>
              <a:spcBef>
                <a:spcPct val="0"/>
              </a:spcBef>
            </a:pPr>
            <a:r>
              <a:rPr lang="en-US" sz="383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❌ </a:t>
            </a:r>
            <a:r>
              <a:rPr lang="en-US" sz="38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Duplication </a:t>
            </a:r>
          </a:p>
          <a:p>
            <a:pPr algn="l">
              <a:lnSpc>
                <a:spcPts val="5362"/>
              </a:lnSpc>
              <a:spcBef>
                <a:spcPct val="0"/>
              </a:spcBef>
            </a:pPr>
            <a:r>
              <a:rPr lang="en-US" sz="38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Tight Coupling </a:t>
            </a:r>
          </a:p>
          <a:p>
            <a:pPr algn="l">
              <a:lnSpc>
                <a:spcPts val="5362"/>
              </a:lnSpc>
              <a:spcBef>
                <a:spcPct val="0"/>
              </a:spcBef>
            </a:pPr>
            <a:r>
              <a:rPr lang="en-US" sz="38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Difficult to Extend </a:t>
            </a:r>
          </a:p>
          <a:p>
            <a:pPr algn="l">
              <a:lnSpc>
                <a:spcPts val="5362"/>
              </a:lnSpc>
              <a:spcBef>
                <a:spcPct val="0"/>
              </a:spcBef>
            </a:pPr>
            <a:r>
              <a:rPr lang="en-US" sz="38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No Notification System </a:t>
            </a:r>
          </a:p>
          <a:p>
            <a:pPr algn="l">
              <a:lnSpc>
                <a:spcPts val="5362"/>
              </a:lnSpc>
              <a:spcBef>
                <a:spcPct val="0"/>
              </a:spcBef>
            </a:pPr>
            <a:r>
              <a:rPr lang="en-US" sz="38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Multiple Database Objects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8641" y="638628"/>
            <a:ext cx="1877047" cy="2213769"/>
          </a:xfrm>
          <a:custGeom>
            <a:avLst/>
            <a:gdLst/>
            <a:ahLst/>
            <a:cxnLst/>
            <a:rect l="l" t="t" r="r" b="b"/>
            <a:pathLst>
              <a:path w="1877047" h="2213769">
                <a:moveTo>
                  <a:pt x="0" y="0"/>
                </a:moveTo>
                <a:lnTo>
                  <a:pt x="1877047" y="0"/>
                </a:lnTo>
                <a:lnTo>
                  <a:pt x="1877047" y="2213769"/>
                </a:lnTo>
                <a:lnTo>
                  <a:pt x="0" y="2213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99061" y="629103"/>
            <a:ext cx="2355489" cy="2085519"/>
          </a:xfrm>
          <a:custGeom>
            <a:avLst/>
            <a:gdLst/>
            <a:ahLst/>
            <a:cxnLst/>
            <a:rect l="l" t="t" r="r" b="b"/>
            <a:pathLst>
              <a:path w="2355489" h="2085519">
                <a:moveTo>
                  <a:pt x="0" y="0"/>
                </a:moveTo>
                <a:lnTo>
                  <a:pt x="2355489" y="0"/>
                </a:lnTo>
                <a:lnTo>
                  <a:pt x="2355489" y="2085518"/>
                </a:lnTo>
                <a:lnTo>
                  <a:pt x="0" y="2085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52889" y="2852397"/>
            <a:ext cx="12782221" cy="7202104"/>
          </a:xfrm>
          <a:custGeom>
            <a:avLst/>
            <a:gdLst/>
            <a:ahLst/>
            <a:cxnLst/>
            <a:rect l="l" t="t" r="r" b="b"/>
            <a:pathLst>
              <a:path w="12782221" h="7202104">
                <a:moveTo>
                  <a:pt x="0" y="0"/>
                </a:moveTo>
                <a:lnTo>
                  <a:pt x="12782222" y="0"/>
                </a:lnTo>
                <a:lnTo>
                  <a:pt x="12782222" y="7202104"/>
                </a:lnTo>
                <a:lnTo>
                  <a:pt x="0" y="7202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659898" y="1621687"/>
            <a:ext cx="6968204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8641" y="638628"/>
            <a:ext cx="1877047" cy="2213769"/>
          </a:xfrm>
          <a:custGeom>
            <a:avLst/>
            <a:gdLst/>
            <a:ahLst/>
            <a:cxnLst/>
            <a:rect l="l" t="t" r="r" b="b"/>
            <a:pathLst>
              <a:path w="1877047" h="2213769">
                <a:moveTo>
                  <a:pt x="0" y="0"/>
                </a:moveTo>
                <a:lnTo>
                  <a:pt x="1877047" y="0"/>
                </a:lnTo>
                <a:lnTo>
                  <a:pt x="1877047" y="2213769"/>
                </a:lnTo>
                <a:lnTo>
                  <a:pt x="0" y="2213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99061" y="629103"/>
            <a:ext cx="2355489" cy="2085519"/>
          </a:xfrm>
          <a:custGeom>
            <a:avLst/>
            <a:gdLst/>
            <a:ahLst/>
            <a:cxnLst/>
            <a:rect l="l" t="t" r="r" b="b"/>
            <a:pathLst>
              <a:path w="2355489" h="2085519">
                <a:moveTo>
                  <a:pt x="0" y="0"/>
                </a:moveTo>
                <a:lnTo>
                  <a:pt x="2355489" y="0"/>
                </a:lnTo>
                <a:lnTo>
                  <a:pt x="2355489" y="2085518"/>
                </a:lnTo>
                <a:lnTo>
                  <a:pt x="0" y="2085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1986" y="3008260"/>
            <a:ext cx="14844029" cy="6525158"/>
          </a:xfrm>
          <a:custGeom>
            <a:avLst/>
            <a:gdLst/>
            <a:ahLst/>
            <a:cxnLst/>
            <a:rect l="l" t="t" r="r" b="b"/>
            <a:pathLst>
              <a:path w="14844029" h="6525158">
                <a:moveTo>
                  <a:pt x="0" y="0"/>
                </a:moveTo>
                <a:lnTo>
                  <a:pt x="14844028" y="0"/>
                </a:lnTo>
                <a:lnTo>
                  <a:pt x="14844028" y="6525159"/>
                </a:lnTo>
                <a:lnTo>
                  <a:pt x="0" y="65251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019800" y="1548037"/>
            <a:ext cx="6190965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FACTORY PATTERN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8641" y="638628"/>
            <a:ext cx="1877047" cy="2213769"/>
          </a:xfrm>
          <a:custGeom>
            <a:avLst/>
            <a:gdLst/>
            <a:ahLst/>
            <a:cxnLst/>
            <a:rect l="l" t="t" r="r" b="b"/>
            <a:pathLst>
              <a:path w="1877047" h="2213769">
                <a:moveTo>
                  <a:pt x="0" y="0"/>
                </a:moveTo>
                <a:lnTo>
                  <a:pt x="1877047" y="0"/>
                </a:lnTo>
                <a:lnTo>
                  <a:pt x="1877047" y="2213769"/>
                </a:lnTo>
                <a:lnTo>
                  <a:pt x="0" y="2213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99061" y="629103"/>
            <a:ext cx="2355489" cy="2085519"/>
          </a:xfrm>
          <a:custGeom>
            <a:avLst/>
            <a:gdLst/>
            <a:ahLst/>
            <a:cxnLst/>
            <a:rect l="l" t="t" r="r" b="b"/>
            <a:pathLst>
              <a:path w="2355489" h="2085519">
                <a:moveTo>
                  <a:pt x="0" y="0"/>
                </a:moveTo>
                <a:lnTo>
                  <a:pt x="2355489" y="0"/>
                </a:lnTo>
                <a:lnTo>
                  <a:pt x="2355489" y="2085518"/>
                </a:lnTo>
                <a:lnTo>
                  <a:pt x="0" y="2085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38936" y="3183129"/>
            <a:ext cx="14388128" cy="6312740"/>
          </a:xfrm>
          <a:custGeom>
            <a:avLst/>
            <a:gdLst/>
            <a:ahLst/>
            <a:cxnLst/>
            <a:rect l="l" t="t" r="r" b="b"/>
            <a:pathLst>
              <a:path w="14388128" h="6312740">
                <a:moveTo>
                  <a:pt x="0" y="0"/>
                </a:moveTo>
                <a:lnTo>
                  <a:pt x="14388129" y="0"/>
                </a:lnTo>
                <a:lnTo>
                  <a:pt x="14388129" y="6312740"/>
                </a:lnTo>
                <a:lnTo>
                  <a:pt x="0" y="631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15000" y="1548037"/>
            <a:ext cx="6713743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OBSERVER PATTERN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8641" y="638628"/>
            <a:ext cx="1877047" cy="2213769"/>
          </a:xfrm>
          <a:custGeom>
            <a:avLst/>
            <a:gdLst/>
            <a:ahLst/>
            <a:cxnLst/>
            <a:rect l="l" t="t" r="r" b="b"/>
            <a:pathLst>
              <a:path w="1877047" h="2213769">
                <a:moveTo>
                  <a:pt x="0" y="0"/>
                </a:moveTo>
                <a:lnTo>
                  <a:pt x="1877047" y="0"/>
                </a:lnTo>
                <a:lnTo>
                  <a:pt x="1877047" y="2213769"/>
                </a:lnTo>
                <a:lnTo>
                  <a:pt x="0" y="2213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99061" y="629103"/>
            <a:ext cx="2355489" cy="2085519"/>
          </a:xfrm>
          <a:custGeom>
            <a:avLst/>
            <a:gdLst/>
            <a:ahLst/>
            <a:cxnLst/>
            <a:rect l="l" t="t" r="r" b="b"/>
            <a:pathLst>
              <a:path w="2355489" h="2085519">
                <a:moveTo>
                  <a:pt x="0" y="0"/>
                </a:moveTo>
                <a:lnTo>
                  <a:pt x="2355489" y="0"/>
                </a:lnTo>
                <a:lnTo>
                  <a:pt x="2355489" y="2085518"/>
                </a:lnTo>
                <a:lnTo>
                  <a:pt x="0" y="2085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27883" y="3246766"/>
            <a:ext cx="13432235" cy="6243334"/>
          </a:xfrm>
          <a:custGeom>
            <a:avLst/>
            <a:gdLst/>
            <a:ahLst/>
            <a:cxnLst/>
            <a:rect l="l" t="t" r="r" b="b"/>
            <a:pathLst>
              <a:path w="13432235" h="6243334">
                <a:moveTo>
                  <a:pt x="0" y="0"/>
                </a:moveTo>
                <a:lnTo>
                  <a:pt x="13432234" y="0"/>
                </a:lnTo>
                <a:lnTo>
                  <a:pt x="13432234" y="6243334"/>
                </a:lnTo>
                <a:lnTo>
                  <a:pt x="0" y="6243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141746" y="8632227"/>
            <a:ext cx="6055462" cy="4452545"/>
          </a:xfrm>
          <a:custGeom>
            <a:avLst/>
            <a:gdLst/>
            <a:ahLst/>
            <a:cxnLst/>
            <a:rect l="l" t="t" r="r" b="b"/>
            <a:pathLst>
              <a:path w="6055462" h="4452545">
                <a:moveTo>
                  <a:pt x="0" y="0"/>
                </a:moveTo>
                <a:lnTo>
                  <a:pt x="6055462" y="0"/>
                </a:lnTo>
                <a:lnTo>
                  <a:pt x="6055462" y="4452546"/>
                </a:lnTo>
                <a:lnTo>
                  <a:pt x="0" y="4452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86400" y="1548037"/>
            <a:ext cx="7088981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SINGLETON PATTERN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8641" y="638628"/>
            <a:ext cx="1877047" cy="2213769"/>
          </a:xfrm>
          <a:custGeom>
            <a:avLst/>
            <a:gdLst/>
            <a:ahLst/>
            <a:cxnLst/>
            <a:rect l="l" t="t" r="r" b="b"/>
            <a:pathLst>
              <a:path w="1877047" h="2213769">
                <a:moveTo>
                  <a:pt x="0" y="0"/>
                </a:moveTo>
                <a:lnTo>
                  <a:pt x="1877047" y="0"/>
                </a:lnTo>
                <a:lnTo>
                  <a:pt x="1877047" y="2213769"/>
                </a:lnTo>
                <a:lnTo>
                  <a:pt x="0" y="2213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99061" y="629103"/>
            <a:ext cx="2355489" cy="2085519"/>
          </a:xfrm>
          <a:custGeom>
            <a:avLst/>
            <a:gdLst/>
            <a:ahLst/>
            <a:cxnLst/>
            <a:rect l="l" t="t" r="r" b="b"/>
            <a:pathLst>
              <a:path w="2355489" h="2085519">
                <a:moveTo>
                  <a:pt x="0" y="0"/>
                </a:moveTo>
                <a:lnTo>
                  <a:pt x="2355489" y="0"/>
                </a:lnTo>
                <a:lnTo>
                  <a:pt x="2355489" y="2085518"/>
                </a:lnTo>
                <a:lnTo>
                  <a:pt x="0" y="2085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172200" y="1548037"/>
            <a:ext cx="5894547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BEFORE VS AFTER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92CEFD-F7CE-69FC-454E-6CC3747C4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402" y="2852397"/>
            <a:ext cx="10028142" cy="6804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8641" y="638628"/>
            <a:ext cx="1877047" cy="2213769"/>
          </a:xfrm>
          <a:custGeom>
            <a:avLst/>
            <a:gdLst/>
            <a:ahLst/>
            <a:cxnLst/>
            <a:rect l="l" t="t" r="r" b="b"/>
            <a:pathLst>
              <a:path w="1877047" h="2213769">
                <a:moveTo>
                  <a:pt x="0" y="0"/>
                </a:moveTo>
                <a:lnTo>
                  <a:pt x="1877047" y="0"/>
                </a:lnTo>
                <a:lnTo>
                  <a:pt x="1877047" y="2213769"/>
                </a:lnTo>
                <a:lnTo>
                  <a:pt x="0" y="2213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99061" y="629103"/>
            <a:ext cx="2355489" cy="2085519"/>
          </a:xfrm>
          <a:custGeom>
            <a:avLst/>
            <a:gdLst/>
            <a:ahLst/>
            <a:cxnLst/>
            <a:rect l="l" t="t" r="r" b="b"/>
            <a:pathLst>
              <a:path w="2355489" h="2085519">
                <a:moveTo>
                  <a:pt x="0" y="0"/>
                </a:moveTo>
                <a:lnTo>
                  <a:pt x="2355489" y="0"/>
                </a:lnTo>
                <a:lnTo>
                  <a:pt x="2355489" y="2085518"/>
                </a:lnTo>
                <a:lnTo>
                  <a:pt x="0" y="2085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086610" y="3289370"/>
            <a:ext cx="5804053" cy="5567153"/>
          </a:xfrm>
          <a:custGeom>
            <a:avLst/>
            <a:gdLst/>
            <a:ahLst/>
            <a:cxnLst/>
            <a:rect l="l" t="t" r="r" b="b"/>
            <a:pathLst>
              <a:path w="5804053" h="5567153">
                <a:moveTo>
                  <a:pt x="0" y="0"/>
                </a:moveTo>
                <a:lnTo>
                  <a:pt x="5804053" y="0"/>
                </a:lnTo>
                <a:lnTo>
                  <a:pt x="5804053" y="5567153"/>
                </a:lnTo>
                <a:lnTo>
                  <a:pt x="0" y="55671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665201" y="1548037"/>
            <a:ext cx="4383799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93338" y="3704762"/>
            <a:ext cx="8211431" cy="4641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2"/>
              </a:lnSpc>
            </a:pPr>
            <a:r>
              <a:rPr lang="en-US" sz="37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Patterns improve software quality by:</a:t>
            </a:r>
          </a:p>
          <a:p>
            <a:pPr marL="813083" lvl="1" indent="-406541" algn="l">
              <a:lnSpc>
                <a:spcPts val="5272"/>
              </a:lnSpc>
              <a:spcBef>
                <a:spcPct val="0"/>
              </a:spcBef>
              <a:buFont typeface="Arial"/>
              <a:buChar char="•"/>
            </a:pPr>
            <a:r>
              <a:rPr lang="en-US" sz="37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code duplication</a:t>
            </a:r>
          </a:p>
          <a:p>
            <a:pPr marL="813083" lvl="1" indent="-406541" algn="l">
              <a:lnSpc>
                <a:spcPts val="5272"/>
              </a:lnSpc>
              <a:spcBef>
                <a:spcPct val="0"/>
              </a:spcBef>
              <a:buFont typeface="Arial"/>
              <a:buChar char="•"/>
            </a:pPr>
            <a:r>
              <a:rPr lang="en-US" sz="37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Increasing flexibility</a:t>
            </a:r>
          </a:p>
          <a:p>
            <a:pPr marL="813083" lvl="1" indent="-406541" algn="l">
              <a:lnSpc>
                <a:spcPts val="5272"/>
              </a:lnSpc>
              <a:spcBef>
                <a:spcPct val="0"/>
              </a:spcBef>
              <a:buFont typeface="Arial"/>
              <a:buChar char="•"/>
            </a:pPr>
            <a:r>
              <a:rPr lang="en-US" sz="37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Supporting scalability</a:t>
            </a:r>
          </a:p>
          <a:p>
            <a:pPr marL="813083" lvl="1" indent="-406541" algn="l">
              <a:lnSpc>
                <a:spcPts val="5272"/>
              </a:lnSpc>
              <a:spcBef>
                <a:spcPct val="0"/>
              </a:spcBef>
              <a:buFont typeface="Arial"/>
              <a:buChar char="•"/>
            </a:pPr>
            <a:r>
              <a:rPr lang="en-US" sz="37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Improving maintainability</a:t>
            </a:r>
          </a:p>
          <a:p>
            <a:pPr marL="813083" lvl="1" indent="-406541" algn="l">
              <a:lnSpc>
                <a:spcPts val="5272"/>
              </a:lnSpc>
              <a:spcBef>
                <a:spcPct val="0"/>
              </a:spcBef>
              <a:buFont typeface="Arial"/>
              <a:buChar char="•"/>
            </a:pPr>
            <a:r>
              <a:rPr lang="en-US" sz="37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Promoting reusable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</Words>
  <Application>Microsoft Office PowerPoint</Application>
  <PresentationFormat>Custom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Times New Roman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dc:creator>tej</dc:creator>
  <cp:lastModifiedBy>Tejaswini M</cp:lastModifiedBy>
  <cp:revision>2</cp:revision>
  <dcterms:created xsi:type="dcterms:W3CDTF">2006-08-16T00:00:00Z</dcterms:created>
  <dcterms:modified xsi:type="dcterms:W3CDTF">2026-07-13T16:19:06Z</dcterms:modified>
  <dc:identifier>DAG4lfvzI4E</dc:identifier>
</cp:coreProperties>
</file>