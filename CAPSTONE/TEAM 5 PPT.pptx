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2" r:id="rId4"/>
    <p:sldId id="263" r:id="rId5"/>
    <p:sldId id="265" r:id="rId6"/>
    <p:sldId id="258" r:id="rId7"/>
    <p:sldId id="259" r:id="rId8"/>
    <p:sldId id="260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9" r:id="rId19"/>
    <p:sldId id="271" r:id="rId20"/>
    <p:sldId id="261" r:id="rId21"/>
  </p:sldIdLst>
  <p:sldSz cx="18288000" cy="10287000"/>
  <p:notesSz cx="6858000" cy="9144000"/>
  <p:embeddedFontLst>
    <p:embeddedFont>
      <p:font typeface="Times New Roman Bold" panose="02020803070505020304" pitchFamily="18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ED1D2-D010-4817-BCEC-39D480AB6D3D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77529-B414-4661-AFB5-019DE633C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317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77529-B414-4661-AFB5-019DE633C1E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169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01279" y="1028700"/>
            <a:ext cx="13434862" cy="1225931"/>
          </a:xfrm>
          <a:custGeom>
            <a:avLst/>
            <a:gdLst/>
            <a:ahLst/>
            <a:cxnLst/>
            <a:rect l="l" t="t" r="r" b="b"/>
            <a:pathLst>
              <a:path w="13434862" h="1225931">
                <a:moveTo>
                  <a:pt x="0" y="0"/>
                </a:moveTo>
                <a:lnTo>
                  <a:pt x="13434862" y="0"/>
                </a:lnTo>
                <a:lnTo>
                  <a:pt x="13434862" y="1225931"/>
                </a:lnTo>
                <a:lnTo>
                  <a:pt x="0" y="12259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6552995"/>
            <a:ext cx="45719" cy="3279179"/>
          </a:xfrm>
          <a:custGeom>
            <a:avLst/>
            <a:gdLst/>
            <a:ahLst/>
            <a:cxnLst/>
            <a:rect l="l" t="t" r="r" b="b"/>
            <a:pathLst>
              <a:path w="89094" h="2815734">
                <a:moveTo>
                  <a:pt x="0" y="0"/>
                </a:moveTo>
                <a:lnTo>
                  <a:pt x="89094" y="0"/>
                </a:lnTo>
                <a:lnTo>
                  <a:pt x="89094" y="2815734"/>
                </a:lnTo>
                <a:lnTo>
                  <a:pt x="0" y="281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21810" r="-834067" b="-68839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29519" y="2613873"/>
            <a:ext cx="14228962" cy="2206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SafeSea</a:t>
            </a:r>
            <a:r>
              <a:rPr lang="en-US" sz="41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SDG-Based Smart Maritime Boundary Protection and Environmental Monitoring System Using Object-Oriented Analysis and Design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38400" y="5081698"/>
            <a:ext cx="13046345" cy="671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CSA1110- OBJECT ORIENTED ANALYSIS AND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43400" y="7094209"/>
            <a:ext cx="4482157" cy="481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TEJASWINI M (192411079)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86200" y="7581900"/>
            <a:ext cx="4939356" cy="481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SHARU PRIYA M (192411116)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51553" y="6455410"/>
            <a:ext cx="2936558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57223" y="6730287"/>
            <a:ext cx="2199680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GUIDED BY: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01200" y="7534898"/>
            <a:ext cx="4796977" cy="481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 DR. MANIMARAN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AB5F68-9165-0E58-ED55-3E55C36D7E3D}"/>
              </a:ext>
            </a:extLst>
          </p:cNvPr>
          <p:cNvSpPr txBox="1"/>
          <p:nvPr/>
        </p:nvSpPr>
        <p:spPr>
          <a:xfrm>
            <a:off x="1905000" y="8115300"/>
            <a:ext cx="9144000" cy="57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VISHALSAI BJ (192320012)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A0D69A-9DFD-8298-8B25-30A10041B5A3}"/>
              </a:ext>
            </a:extLst>
          </p:cNvPr>
          <p:cNvSpPr txBox="1"/>
          <p:nvPr/>
        </p:nvSpPr>
        <p:spPr>
          <a:xfrm>
            <a:off x="1905000" y="8724900"/>
            <a:ext cx="9144000" cy="57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CHAITANYA (192320028)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5DA8C3-FFD6-94B3-E585-876BA9732290}"/>
              </a:ext>
            </a:extLst>
          </p:cNvPr>
          <p:cNvSpPr txBox="1"/>
          <p:nvPr/>
        </p:nvSpPr>
        <p:spPr>
          <a:xfrm>
            <a:off x="2133600" y="9258300"/>
            <a:ext cx="9144000" cy="57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YUVASRI S  (192521032)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1337240" cy="1535350"/>
          </a:xfrm>
          <a:custGeom>
            <a:avLst/>
            <a:gdLst/>
            <a:ahLst/>
            <a:cxnLst/>
            <a:rect l="l" t="t" r="r" b="b"/>
            <a:pathLst>
              <a:path w="1337240" h="1535350">
                <a:moveTo>
                  <a:pt x="0" y="0"/>
                </a:moveTo>
                <a:lnTo>
                  <a:pt x="1337240" y="0"/>
                </a:lnTo>
                <a:lnTo>
                  <a:pt x="1337240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15091" y="1028700"/>
            <a:ext cx="2044209" cy="1535350"/>
          </a:xfrm>
          <a:custGeom>
            <a:avLst/>
            <a:gdLst/>
            <a:ahLst/>
            <a:cxnLst/>
            <a:rect l="l" t="t" r="r" b="b"/>
            <a:pathLst>
              <a:path w="2044209" h="1535350">
                <a:moveTo>
                  <a:pt x="0" y="0"/>
                </a:moveTo>
                <a:lnTo>
                  <a:pt x="2044209" y="0"/>
                </a:lnTo>
                <a:lnTo>
                  <a:pt x="2044209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081275" y="1672550"/>
            <a:ext cx="8125451" cy="899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28800" y="3307831"/>
            <a:ext cx="14408395" cy="5468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91" lvl="1" indent="-334646" algn="just">
              <a:lnSpc>
                <a:spcPts val="4340"/>
              </a:lnSpc>
              <a:buFont typeface="Arial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SafeSea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intelligent maritime boundary monitoring and navigation system designed to prevent fishermen from unintentionally crossing international boundaries</a:t>
            </a:r>
          </a:p>
          <a:p>
            <a:pPr marL="669291" lvl="1" indent="-334646" algn="just">
              <a:lnSpc>
                <a:spcPts val="4340"/>
              </a:lnSpc>
              <a:buFont typeface="Arial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utilizes GPS technology and real-time data processing to continuously monitor boat position, speed, and direction</a:t>
            </a:r>
          </a:p>
          <a:p>
            <a:pPr marL="669291" lvl="1" indent="-334646" algn="just">
              <a:lnSpc>
                <a:spcPts val="4340"/>
              </a:lnSpc>
              <a:buFont typeface="Arial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movement patterns and predicts the risk of boundary violations for safer navigation </a:t>
            </a:r>
          </a:p>
          <a:p>
            <a:pPr marL="669291" lvl="1" indent="-334646" algn="just">
              <a:lnSpc>
                <a:spcPts val="4340"/>
              </a:lnSpc>
              <a:buFont typeface="Arial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decision-support mechanism classifies regions into safe, warning, and restricted zones to support timely actions </a:t>
            </a:r>
          </a:p>
          <a:p>
            <a:pPr marL="669291" lvl="1" indent="-334646" algn="just">
              <a:lnSpc>
                <a:spcPts val="4340"/>
              </a:lnSpc>
              <a:buFont typeface="Arial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high-risk situations are detected, the system provides visual alerts, alarm sounds, multilingual voice warnings, and navigation guidance to ensure secure maritime operations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66763-7CDD-E49F-A5C9-487C48735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42EAA7F-41F1-7839-AA73-428C2DBF9BCB}"/>
              </a:ext>
            </a:extLst>
          </p:cNvPr>
          <p:cNvSpPr/>
          <p:nvPr/>
        </p:nvSpPr>
        <p:spPr>
          <a:xfrm>
            <a:off x="1028700" y="1028700"/>
            <a:ext cx="1337240" cy="1535350"/>
          </a:xfrm>
          <a:custGeom>
            <a:avLst/>
            <a:gdLst/>
            <a:ahLst/>
            <a:cxnLst/>
            <a:rect l="l" t="t" r="r" b="b"/>
            <a:pathLst>
              <a:path w="1337240" h="1535350">
                <a:moveTo>
                  <a:pt x="0" y="0"/>
                </a:moveTo>
                <a:lnTo>
                  <a:pt x="1337240" y="0"/>
                </a:lnTo>
                <a:lnTo>
                  <a:pt x="1337240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6698173-EC9A-E4DA-7CA6-7F39E26C0FF9}"/>
              </a:ext>
            </a:extLst>
          </p:cNvPr>
          <p:cNvSpPr/>
          <p:nvPr/>
        </p:nvSpPr>
        <p:spPr>
          <a:xfrm>
            <a:off x="15215091" y="1028700"/>
            <a:ext cx="2044209" cy="1535350"/>
          </a:xfrm>
          <a:custGeom>
            <a:avLst/>
            <a:gdLst/>
            <a:ahLst/>
            <a:cxnLst/>
            <a:rect l="l" t="t" r="r" b="b"/>
            <a:pathLst>
              <a:path w="2044209" h="1535350">
                <a:moveTo>
                  <a:pt x="0" y="0"/>
                </a:moveTo>
                <a:lnTo>
                  <a:pt x="2044209" y="0"/>
                </a:lnTo>
                <a:lnTo>
                  <a:pt x="2044209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6BE3586-B00C-F1DA-B162-836D9AEA27FA}"/>
              </a:ext>
            </a:extLst>
          </p:cNvPr>
          <p:cNvSpPr txBox="1"/>
          <p:nvPr/>
        </p:nvSpPr>
        <p:spPr>
          <a:xfrm>
            <a:off x="5081275" y="1672550"/>
            <a:ext cx="8125451" cy="836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D773C6E-24EF-438B-8761-640C64AACBCE}"/>
              </a:ext>
            </a:extLst>
          </p:cNvPr>
          <p:cNvSpPr txBox="1"/>
          <p:nvPr/>
        </p:nvSpPr>
        <p:spPr>
          <a:xfrm>
            <a:off x="1697320" y="3307831"/>
            <a:ext cx="8970679" cy="5460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91" lvl="1" indent="-334646" algn="just">
              <a:lnSpc>
                <a:spcPts val="4340"/>
              </a:lnSpc>
              <a:buFont typeface="Arial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awareness of international maritime boundaries leads to accidental crossings</a:t>
            </a:r>
          </a:p>
          <a:p>
            <a:pPr marL="669291" lvl="1" indent="-334646" algn="just">
              <a:lnSpc>
                <a:spcPts val="4340"/>
              </a:lnSpc>
              <a:buFont typeface="Arial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navigation systems provide limited monitoring and predictive capabilities </a:t>
            </a:r>
          </a:p>
          <a:p>
            <a:pPr marL="669291" lvl="1" indent="-334646" algn="just">
              <a:lnSpc>
                <a:spcPts val="4340"/>
              </a:lnSpc>
              <a:buFont typeface="Arial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intelligent alert mechanisms affects timely decision-making </a:t>
            </a:r>
          </a:p>
          <a:p>
            <a:pPr marL="669291" lvl="1" indent="-334646" algn="just">
              <a:lnSpc>
                <a:spcPts val="4340"/>
              </a:lnSpc>
              <a:buFont typeface="Arial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barriers reduce the effectiveness of emergency communication </a:t>
            </a:r>
          </a:p>
          <a:p>
            <a:pPr marL="669291" lvl="1" indent="-334646" algn="just">
              <a:lnSpc>
                <a:spcPts val="4340"/>
              </a:lnSpc>
              <a:buFont typeface="Arial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scalable and user-friendly system that enhances maritime safety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59677F-7F0F-8398-7607-7389C063C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6200" y="3543300"/>
            <a:ext cx="4724400" cy="474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140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F38F8-969C-D7B8-C0D2-838AF3635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6993FC-4C65-004B-33C9-5682E9E6BBA8}"/>
              </a:ext>
            </a:extLst>
          </p:cNvPr>
          <p:cNvSpPr/>
          <p:nvPr/>
        </p:nvSpPr>
        <p:spPr>
          <a:xfrm>
            <a:off x="1028700" y="1028700"/>
            <a:ext cx="1337240" cy="1535350"/>
          </a:xfrm>
          <a:custGeom>
            <a:avLst/>
            <a:gdLst/>
            <a:ahLst/>
            <a:cxnLst/>
            <a:rect l="l" t="t" r="r" b="b"/>
            <a:pathLst>
              <a:path w="1337240" h="1535350">
                <a:moveTo>
                  <a:pt x="0" y="0"/>
                </a:moveTo>
                <a:lnTo>
                  <a:pt x="1337240" y="0"/>
                </a:lnTo>
                <a:lnTo>
                  <a:pt x="1337240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E7A0B61-17A7-B184-9C4F-A7EFCCAE6F55}"/>
              </a:ext>
            </a:extLst>
          </p:cNvPr>
          <p:cNvSpPr/>
          <p:nvPr/>
        </p:nvSpPr>
        <p:spPr>
          <a:xfrm>
            <a:off x="15215091" y="1028700"/>
            <a:ext cx="2044209" cy="1535350"/>
          </a:xfrm>
          <a:custGeom>
            <a:avLst/>
            <a:gdLst/>
            <a:ahLst/>
            <a:cxnLst/>
            <a:rect l="l" t="t" r="r" b="b"/>
            <a:pathLst>
              <a:path w="2044209" h="1535350">
                <a:moveTo>
                  <a:pt x="0" y="0"/>
                </a:moveTo>
                <a:lnTo>
                  <a:pt x="2044209" y="0"/>
                </a:lnTo>
                <a:lnTo>
                  <a:pt x="2044209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26B6900-A1C2-AAA7-0299-A028D853FD09}"/>
              </a:ext>
            </a:extLst>
          </p:cNvPr>
          <p:cNvSpPr txBox="1"/>
          <p:nvPr/>
        </p:nvSpPr>
        <p:spPr>
          <a:xfrm>
            <a:off x="5081275" y="1672550"/>
            <a:ext cx="8125451" cy="836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3AC5F-61DC-71AA-64A1-6925B449B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6415" y="3467100"/>
            <a:ext cx="5436656" cy="4191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BDB92B-CD27-48D8-FD60-FB355097A220}"/>
              </a:ext>
            </a:extLst>
          </p:cNvPr>
          <p:cNvSpPr/>
          <p:nvPr/>
        </p:nvSpPr>
        <p:spPr>
          <a:xfrm>
            <a:off x="8153400" y="3619500"/>
            <a:ext cx="8496300" cy="4038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CBA2D733-6982-2AFF-2254-3559F5348A33}"/>
              </a:ext>
            </a:extLst>
          </p:cNvPr>
          <p:cNvSpPr txBox="1"/>
          <p:nvPr/>
        </p:nvSpPr>
        <p:spPr>
          <a:xfrm>
            <a:off x="8305800" y="4022235"/>
            <a:ext cx="7903879" cy="3254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34645" lvl="1" algn="just">
              <a:lnSpc>
                <a:spcPts val="434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“To develop an intelligent and user-centric maritime navigation system that provides real-time monitoring, risk analysis, multilingual alerts, and navigation guidance to improve fishermen safety and prevent accidental boundary crossings”</a:t>
            </a: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036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8E526-B124-3C44-93FB-1498FDA1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DD2597-E55E-DA59-DE1F-AAD00DE930A8}"/>
              </a:ext>
            </a:extLst>
          </p:cNvPr>
          <p:cNvSpPr/>
          <p:nvPr/>
        </p:nvSpPr>
        <p:spPr>
          <a:xfrm>
            <a:off x="1028700" y="1028700"/>
            <a:ext cx="1337240" cy="1535350"/>
          </a:xfrm>
          <a:custGeom>
            <a:avLst/>
            <a:gdLst/>
            <a:ahLst/>
            <a:cxnLst/>
            <a:rect l="l" t="t" r="r" b="b"/>
            <a:pathLst>
              <a:path w="1337240" h="1535350">
                <a:moveTo>
                  <a:pt x="0" y="0"/>
                </a:moveTo>
                <a:lnTo>
                  <a:pt x="1337240" y="0"/>
                </a:lnTo>
                <a:lnTo>
                  <a:pt x="1337240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A13A610-7B77-068E-AE1F-C86314F39C2C}"/>
              </a:ext>
            </a:extLst>
          </p:cNvPr>
          <p:cNvSpPr/>
          <p:nvPr/>
        </p:nvSpPr>
        <p:spPr>
          <a:xfrm>
            <a:off x="15215091" y="1028700"/>
            <a:ext cx="2044209" cy="1535350"/>
          </a:xfrm>
          <a:custGeom>
            <a:avLst/>
            <a:gdLst/>
            <a:ahLst/>
            <a:cxnLst/>
            <a:rect l="l" t="t" r="r" b="b"/>
            <a:pathLst>
              <a:path w="2044209" h="1535350">
                <a:moveTo>
                  <a:pt x="0" y="0"/>
                </a:moveTo>
                <a:lnTo>
                  <a:pt x="2044209" y="0"/>
                </a:lnTo>
                <a:lnTo>
                  <a:pt x="2044209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0107652-D0DF-60AD-DFF3-5D52CAC54BA2}"/>
              </a:ext>
            </a:extLst>
          </p:cNvPr>
          <p:cNvSpPr txBox="1"/>
          <p:nvPr/>
        </p:nvSpPr>
        <p:spPr>
          <a:xfrm>
            <a:off x="4521837" y="1640374"/>
            <a:ext cx="9244326" cy="836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747762-4642-9D34-4E65-1FD343B78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235616"/>
              </p:ext>
            </p:extLst>
          </p:nvPr>
        </p:nvGraphicFramePr>
        <p:xfrm>
          <a:off x="1143000" y="2933700"/>
          <a:ext cx="15849600" cy="6705601"/>
        </p:xfrm>
        <a:graphic>
          <a:graphicData uri="http://schemas.openxmlformats.org/drawingml/2006/table">
            <a:tbl>
              <a:tblPr/>
              <a:tblGrid>
                <a:gridCol w="1123950">
                  <a:extLst>
                    <a:ext uri="{9D8B030D-6E8A-4147-A177-3AD203B41FA5}">
                      <a16:colId xmlns:a16="http://schemas.microsoft.com/office/drawing/2014/main" val="2089778875"/>
                    </a:ext>
                  </a:extLst>
                </a:gridCol>
                <a:gridCol w="2381439">
                  <a:extLst>
                    <a:ext uri="{9D8B030D-6E8A-4147-A177-3AD203B41FA5}">
                      <a16:colId xmlns:a16="http://schemas.microsoft.com/office/drawing/2014/main" val="678472660"/>
                    </a:ext>
                  </a:extLst>
                </a:gridCol>
                <a:gridCol w="4029238">
                  <a:extLst>
                    <a:ext uri="{9D8B030D-6E8A-4147-A177-3AD203B41FA5}">
                      <a16:colId xmlns:a16="http://schemas.microsoft.com/office/drawing/2014/main" val="3168916997"/>
                    </a:ext>
                  </a:extLst>
                </a:gridCol>
                <a:gridCol w="2514154">
                  <a:extLst>
                    <a:ext uri="{9D8B030D-6E8A-4147-A177-3AD203B41FA5}">
                      <a16:colId xmlns:a16="http://schemas.microsoft.com/office/drawing/2014/main" val="1029782646"/>
                    </a:ext>
                  </a:extLst>
                </a:gridCol>
                <a:gridCol w="3563502">
                  <a:extLst>
                    <a:ext uri="{9D8B030D-6E8A-4147-A177-3AD203B41FA5}">
                      <a16:colId xmlns:a16="http://schemas.microsoft.com/office/drawing/2014/main" val="756095759"/>
                    </a:ext>
                  </a:extLst>
                </a:gridCol>
                <a:gridCol w="2237317">
                  <a:extLst>
                    <a:ext uri="{9D8B030D-6E8A-4147-A177-3AD203B41FA5}">
                      <a16:colId xmlns:a16="http://schemas.microsoft.com/office/drawing/2014/main" val="4280716582"/>
                    </a:ext>
                  </a:extLst>
                </a:gridCol>
              </a:tblGrid>
              <a:tr h="6321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Study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Contributions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90644"/>
                  </a:ext>
                </a:extLst>
              </a:tr>
              <a:tr h="14232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</a:t>
                      </a:r>
                      <a:r>
                        <a:rPr lang="en-IN" sz="2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Menakadevi</a:t>
                      </a: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Marine Border Monitoring and Alert System for Fishermen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IoT, GPS and GSM-based monitoring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real-time location tracking and boundary alerts for fishermen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predictive analysis capabilities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158168"/>
                  </a:ext>
                </a:extLst>
              </a:tr>
              <a:tr h="1075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Miller et al.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Systematic Review of AI-Driven Threat Detection and Maritime Security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review following PRISMA guidelines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Explores AI applications for maritime safety and security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cybersecurity aspects 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375478"/>
                  </a:ext>
                </a:extLst>
              </a:tr>
              <a:tr h="1075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S.M. Hassan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of Artificial Intelligence in Marine Engine Control Systems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control and analysis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efficiency and reliability of marine operations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focus on boundary monitoring 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781844"/>
                  </a:ext>
                </a:extLst>
              </a:tr>
              <a:tr h="14232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G.M. Karthik et al.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Maritime Safety System for Indian Fishermen Using GPS and LoRa Communication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 and LoRa-based communication system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safety and communication for fishermen near maritime borders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cloud-based monitoring and analytics 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485"/>
                  </a:ext>
                </a:extLst>
              </a:tr>
              <a:tr h="1075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IJERT Research Group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Wave Sense: Smart Marine Boat Tracking and Fishing Assistance System Using IoT and AI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sensors, GPS, cloud monitoring and AI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real-time tracking and environmental monitoring for fishing boats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implementation complexity </a:t>
                      </a:r>
                    </a:p>
                  </a:txBody>
                  <a:tcPr marL="31430" marR="31430" marT="15715" marB="157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208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929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1337240" cy="1535350"/>
          </a:xfrm>
          <a:custGeom>
            <a:avLst/>
            <a:gdLst/>
            <a:ahLst/>
            <a:cxnLst/>
            <a:rect l="l" t="t" r="r" b="b"/>
            <a:pathLst>
              <a:path w="1337240" h="1535350">
                <a:moveTo>
                  <a:pt x="0" y="0"/>
                </a:moveTo>
                <a:lnTo>
                  <a:pt x="1337240" y="0"/>
                </a:lnTo>
                <a:lnTo>
                  <a:pt x="1337240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15091" y="1028700"/>
            <a:ext cx="2044209" cy="1535350"/>
          </a:xfrm>
          <a:custGeom>
            <a:avLst/>
            <a:gdLst/>
            <a:ahLst/>
            <a:cxnLst/>
            <a:rect l="l" t="t" r="r" b="b"/>
            <a:pathLst>
              <a:path w="2044209" h="1535350">
                <a:moveTo>
                  <a:pt x="0" y="0"/>
                </a:moveTo>
                <a:lnTo>
                  <a:pt x="2044209" y="0"/>
                </a:lnTo>
                <a:lnTo>
                  <a:pt x="2044209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443966" y="1636314"/>
            <a:ext cx="3452634" cy="836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48331" y="2760423"/>
            <a:ext cx="14963269" cy="642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Fisherman Registration and Voyage Management</a:t>
            </a:r>
            <a:endParaRPr lang="en-US" sz="44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09800" y="3848100"/>
            <a:ext cx="134112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 fishermen with personal details, fishing license information, and vessel identification.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 centralized database of fishermen, boats, and voyage records for easy management.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fishermen to create, update, and manage fishing trips before departure.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user identity through secure authentication and role-based access (Fisherman, Coast Guard, Administrator).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previous voyage history to support future navigation and performance analysis.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1337240" cy="1535350"/>
          </a:xfrm>
          <a:custGeom>
            <a:avLst/>
            <a:gdLst/>
            <a:ahLst/>
            <a:cxnLst/>
            <a:rect l="l" t="t" r="r" b="b"/>
            <a:pathLst>
              <a:path w="1337240" h="1535350">
                <a:moveTo>
                  <a:pt x="0" y="0"/>
                </a:moveTo>
                <a:lnTo>
                  <a:pt x="1337240" y="0"/>
                </a:lnTo>
                <a:lnTo>
                  <a:pt x="1337240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15091" y="1028700"/>
            <a:ext cx="2044209" cy="1535350"/>
          </a:xfrm>
          <a:custGeom>
            <a:avLst/>
            <a:gdLst/>
            <a:ahLst/>
            <a:cxnLst/>
            <a:rect l="l" t="t" r="r" b="b"/>
            <a:pathLst>
              <a:path w="2044209" h="1535350">
                <a:moveTo>
                  <a:pt x="0" y="0"/>
                </a:moveTo>
                <a:lnTo>
                  <a:pt x="2044209" y="0"/>
                </a:lnTo>
                <a:lnTo>
                  <a:pt x="2044209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443930" y="1636314"/>
            <a:ext cx="3528870" cy="836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2560" y="2739771"/>
            <a:ext cx="15142880" cy="642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and Safe Route Management</a:t>
            </a:r>
            <a:endParaRPr lang="en-US" sz="44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65940" y="3848100"/>
            <a:ext cx="1317886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GPS and digital maps to determine the current location of fishing vessels.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optimized navigation routes based on destination, weather conditions, and sea traffic.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real-time weather forecasts, ocean current information, and tidal conditions for safer navigation.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updates navigation paths when environmental conditions change.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intelligent route recommendations to minimize travel time, fuel consumption, and navigation risks.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1337240" cy="1535350"/>
          </a:xfrm>
          <a:custGeom>
            <a:avLst/>
            <a:gdLst/>
            <a:ahLst/>
            <a:cxnLst/>
            <a:rect l="l" t="t" r="r" b="b"/>
            <a:pathLst>
              <a:path w="1337240" h="1535350">
                <a:moveTo>
                  <a:pt x="0" y="0"/>
                </a:moveTo>
                <a:lnTo>
                  <a:pt x="1337240" y="0"/>
                </a:lnTo>
                <a:lnTo>
                  <a:pt x="1337240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15091" y="1028700"/>
            <a:ext cx="2044209" cy="1535350"/>
          </a:xfrm>
          <a:custGeom>
            <a:avLst/>
            <a:gdLst/>
            <a:ahLst/>
            <a:cxnLst/>
            <a:rect l="l" t="t" r="r" b="b"/>
            <a:pathLst>
              <a:path w="2044209" h="1535350">
                <a:moveTo>
                  <a:pt x="0" y="0"/>
                </a:moveTo>
                <a:lnTo>
                  <a:pt x="2044209" y="0"/>
                </a:lnTo>
                <a:lnTo>
                  <a:pt x="2044209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443930" y="1636314"/>
            <a:ext cx="3452670" cy="836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14600" y="3924300"/>
            <a:ext cx="12801600" cy="6046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vessel location with respect to international maritime boundaries using geofencing techniques.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restricted fishing zones, protected marine areas, and unauthorized border crossings.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AI-based risk assessment by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weather patterns, wave height, and vessel movement.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possible navigation hazards and unsafe fishing locations before they become critical.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visual boundary indicators and warning notifications to help fishermen avoid violations.</a:t>
            </a:r>
          </a:p>
          <a:p>
            <a:pPr algn="just">
              <a:lnSpc>
                <a:spcPts val="4340"/>
              </a:lnSpc>
            </a:pPr>
            <a:endParaRPr lang="en-US" sz="31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58E5B4D-C6E2-94B3-56AB-C00624BB5E09}"/>
              </a:ext>
            </a:extLst>
          </p:cNvPr>
          <p:cNvSpPr txBox="1"/>
          <p:nvPr/>
        </p:nvSpPr>
        <p:spPr>
          <a:xfrm>
            <a:off x="1572560" y="2742092"/>
            <a:ext cx="15142880" cy="642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Maritime Boundary Intelligence and Hazard Detection</a:t>
            </a:r>
            <a:endParaRPr lang="en-US" sz="44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01F52-2DA2-728B-E5DC-60F7ACF8F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7548E66-8198-7150-C25C-A82A7C443849}"/>
              </a:ext>
            </a:extLst>
          </p:cNvPr>
          <p:cNvSpPr/>
          <p:nvPr/>
        </p:nvSpPr>
        <p:spPr>
          <a:xfrm>
            <a:off x="1028700" y="1028700"/>
            <a:ext cx="1337240" cy="1535350"/>
          </a:xfrm>
          <a:custGeom>
            <a:avLst/>
            <a:gdLst/>
            <a:ahLst/>
            <a:cxnLst/>
            <a:rect l="l" t="t" r="r" b="b"/>
            <a:pathLst>
              <a:path w="1337240" h="1535350">
                <a:moveTo>
                  <a:pt x="0" y="0"/>
                </a:moveTo>
                <a:lnTo>
                  <a:pt x="1337240" y="0"/>
                </a:lnTo>
                <a:lnTo>
                  <a:pt x="1337240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C65399E-28D6-FD97-B7B0-E48FE85E749E}"/>
              </a:ext>
            </a:extLst>
          </p:cNvPr>
          <p:cNvSpPr/>
          <p:nvPr/>
        </p:nvSpPr>
        <p:spPr>
          <a:xfrm>
            <a:off x="15215091" y="1028700"/>
            <a:ext cx="2044209" cy="1535350"/>
          </a:xfrm>
          <a:custGeom>
            <a:avLst/>
            <a:gdLst/>
            <a:ahLst/>
            <a:cxnLst/>
            <a:rect l="l" t="t" r="r" b="b"/>
            <a:pathLst>
              <a:path w="2044209" h="1535350">
                <a:moveTo>
                  <a:pt x="0" y="0"/>
                </a:moveTo>
                <a:lnTo>
                  <a:pt x="2044209" y="0"/>
                </a:lnTo>
                <a:lnTo>
                  <a:pt x="2044209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1E42FCD-D16D-F155-6126-1F013498E259}"/>
              </a:ext>
            </a:extLst>
          </p:cNvPr>
          <p:cNvSpPr txBox="1"/>
          <p:nvPr/>
        </p:nvSpPr>
        <p:spPr>
          <a:xfrm>
            <a:off x="7443930" y="1636314"/>
            <a:ext cx="3452670" cy="836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4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3BDB18D-6659-3055-86D2-559B1F8C4C17}"/>
              </a:ext>
            </a:extLst>
          </p:cNvPr>
          <p:cNvSpPr txBox="1"/>
          <p:nvPr/>
        </p:nvSpPr>
        <p:spPr>
          <a:xfrm>
            <a:off x="2514600" y="3924300"/>
            <a:ext cx="128016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generates alerts when vessels approach restricted maritime boundaries or hazardous regions.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SOS notifications with real-time GPS coordinates during emergency situations.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Shares vessel location and emergency information with Coast Guard stations and emergency response teams.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the safest evacuation routes and nearby rescue stations based on the vessel's location. </a:t>
            </a:r>
          </a:p>
          <a:p>
            <a:pPr marL="571500" lvl="0" indent="-5715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an emergency communication log for future investigation and operational analysis.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3D4BBB9-FEE9-167A-B05D-335C23319D10}"/>
              </a:ext>
            </a:extLst>
          </p:cNvPr>
          <p:cNvSpPr txBox="1"/>
          <p:nvPr/>
        </p:nvSpPr>
        <p:spPr>
          <a:xfrm>
            <a:off x="1572560" y="2742092"/>
            <a:ext cx="15142880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Communication and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4299666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F8EF8-4AD4-B792-DF02-0FCDF41A5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D9A44D1-B3EF-4D63-33A5-470FD15DD8F7}"/>
              </a:ext>
            </a:extLst>
          </p:cNvPr>
          <p:cNvSpPr/>
          <p:nvPr/>
        </p:nvSpPr>
        <p:spPr>
          <a:xfrm>
            <a:off x="1028700" y="1028700"/>
            <a:ext cx="1337240" cy="1535350"/>
          </a:xfrm>
          <a:custGeom>
            <a:avLst/>
            <a:gdLst/>
            <a:ahLst/>
            <a:cxnLst/>
            <a:rect l="l" t="t" r="r" b="b"/>
            <a:pathLst>
              <a:path w="1337240" h="1535350">
                <a:moveTo>
                  <a:pt x="0" y="0"/>
                </a:moveTo>
                <a:lnTo>
                  <a:pt x="1337240" y="0"/>
                </a:lnTo>
                <a:lnTo>
                  <a:pt x="1337240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E8F7EDC-4583-F89D-414A-1E86A7761828}"/>
              </a:ext>
            </a:extLst>
          </p:cNvPr>
          <p:cNvSpPr/>
          <p:nvPr/>
        </p:nvSpPr>
        <p:spPr>
          <a:xfrm>
            <a:off x="15215091" y="1028700"/>
            <a:ext cx="2044209" cy="1535350"/>
          </a:xfrm>
          <a:custGeom>
            <a:avLst/>
            <a:gdLst/>
            <a:ahLst/>
            <a:cxnLst/>
            <a:rect l="l" t="t" r="r" b="b"/>
            <a:pathLst>
              <a:path w="2044209" h="1535350">
                <a:moveTo>
                  <a:pt x="0" y="0"/>
                </a:moveTo>
                <a:lnTo>
                  <a:pt x="2044209" y="0"/>
                </a:lnTo>
                <a:lnTo>
                  <a:pt x="2044209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54FCCAE-A705-2E7D-CC57-0ED06C42FF4D}"/>
              </a:ext>
            </a:extLst>
          </p:cNvPr>
          <p:cNvSpPr txBox="1"/>
          <p:nvPr/>
        </p:nvSpPr>
        <p:spPr>
          <a:xfrm>
            <a:off x="7443930" y="1636314"/>
            <a:ext cx="3452670" cy="836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5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BBA74DF-29E7-B72E-D05E-D4D41DC9B80B}"/>
              </a:ext>
            </a:extLst>
          </p:cNvPr>
          <p:cNvSpPr txBox="1"/>
          <p:nvPr/>
        </p:nvSpPr>
        <p:spPr>
          <a:xfrm>
            <a:off x="2514600" y="3924300"/>
            <a:ext cx="12801600" cy="6046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complete voyage details, navigation routes, alerts, and emergency events for analysis.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graphical reports showing navigation efficiency, fuel usage, and boundary violation statistics.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navigation data to identify frequently used routes and high-risk maritime zones.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overall system performance through usability testing, reliability testing, and navigation accuracy.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continuous system improvement using user feedback, performance metrics, and predictive analytics.</a:t>
            </a:r>
          </a:p>
          <a:p>
            <a:pPr algn="just">
              <a:lnSpc>
                <a:spcPts val="4340"/>
              </a:lnSpc>
            </a:pPr>
            <a:endParaRPr lang="en-US" sz="31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EFE9A06D-BFEE-1E22-57D1-DB57414C6F5C}"/>
              </a:ext>
            </a:extLst>
          </p:cNvPr>
          <p:cNvSpPr txBox="1"/>
          <p:nvPr/>
        </p:nvSpPr>
        <p:spPr>
          <a:xfrm>
            <a:off x="1572560" y="2742092"/>
            <a:ext cx="15142880" cy="6551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Analytics, Reporting and System Evaluation</a:t>
            </a:r>
            <a:endParaRPr lang="en-US" sz="44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</p:spTree>
    <p:extLst>
      <p:ext uri="{BB962C8B-B14F-4D97-AF65-F5344CB8AC3E}">
        <p14:creationId xmlns:p14="http://schemas.microsoft.com/office/powerpoint/2010/main" val="2186804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028700"/>
            <a:ext cx="1337767" cy="1535277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616" y="1028700"/>
            <a:ext cx="2044598" cy="1535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8808" y="1444752"/>
            <a:ext cx="609038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 dirty="0">
                <a:solidFill>
                  <a:srgbClr val="000000"/>
                </a:solidFill>
                <a:latin typeface="Times New Roman"/>
              </a:rPr>
              <a:t>SDG ALIGNMENT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5870448"/>
            <a:ext cx="4572000" cy="2971800"/>
          </a:xfrm>
          <a:prstGeom prst="roundRect">
            <a:avLst/>
          </a:prstGeom>
          <a:solidFill>
            <a:srgbClr val="0A97D9"/>
          </a:solidFill>
          <a:ln>
            <a:solidFill>
              <a:srgbClr val="0A9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201168" rtlCol="0" anchor="ctr"/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Times New Roman"/>
              </a:rPr>
              <a:t>SDG 14</a:t>
            </a:r>
          </a:p>
          <a:p>
            <a:pPr algn="ctr"/>
            <a:r>
              <a:rPr sz="2800" b="1" dirty="0">
                <a:solidFill>
                  <a:srgbClr val="FFFFFF"/>
                </a:solidFill>
                <a:latin typeface="Times New Roman"/>
              </a:rPr>
              <a:t>Life Below Water</a:t>
            </a:r>
          </a:p>
          <a:p>
            <a:pPr algn="ctr"/>
            <a:r>
              <a:rPr sz="2400" dirty="0">
                <a:solidFill>
                  <a:srgbClr val="FFFFFF"/>
                </a:solidFill>
                <a:latin typeface="Times New Roman"/>
              </a:rPr>
              <a:t>Supports safer fishing navigation, protects restricted / marine zones, and strengthens maritime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1920" y="3314700"/>
            <a:ext cx="4572000" cy="2971800"/>
          </a:xfrm>
          <a:prstGeom prst="roundRect">
            <a:avLst/>
          </a:prstGeom>
          <a:solidFill>
            <a:srgbClr val="FD6925"/>
          </a:solidFill>
          <a:ln>
            <a:solidFill>
              <a:srgbClr val="FD6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201168" rtlCol="0" anchor="ctr"/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Times New Roman"/>
              </a:rPr>
              <a:t>SDG 9</a:t>
            </a:r>
          </a:p>
          <a:p>
            <a:pPr algn="ctr"/>
            <a:r>
              <a:rPr sz="2800" b="1" dirty="0">
                <a:solidFill>
                  <a:srgbClr val="FFFFFF"/>
                </a:solidFill>
                <a:latin typeface="Times New Roman"/>
              </a:rPr>
              <a:t>Industry, Innovation and Infrastructure</a:t>
            </a:r>
          </a:p>
          <a:p>
            <a:pPr algn="ctr"/>
            <a:r>
              <a:rPr sz="2400" dirty="0">
                <a:solidFill>
                  <a:srgbClr val="FFFFFF"/>
                </a:solidFill>
                <a:latin typeface="Times New Roman"/>
              </a:rPr>
              <a:t>Uses GPS, real-time dashboards, AI risk scoring, and OOAD-based modular system design.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567160" y="5870448"/>
            <a:ext cx="4572000" cy="2971800"/>
          </a:xfrm>
          <a:prstGeom prst="roundRect">
            <a:avLst/>
          </a:prstGeom>
          <a:solidFill>
            <a:srgbClr val="3F7E44"/>
          </a:solidFill>
          <a:ln>
            <a:solidFill>
              <a:srgbClr val="3F7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201168" rtlCol="0" anchor="ctr"/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Times New Roman"/>
              </a:rPr>
              <a:t>SDG 13</a:t>
            </a:r>
          </a:p>
          <a:p>
            <a:pPr algn="ctr"/>
            <a:r>
              <a:rPr sz="2800" b="1" dirty="0">
                <a:solidFill>
                  <a:srgbClr val="FFFFFF"/>
                </a:solidFill>
                <a:latin typeface="Times New Roman"/>
              </a:rPr>
              <a:t>Climate Action</a:t>
            </a:r>
          </a:p>
          <a:p>
            <a:pPr algn="ctr"/>
            <a:r>
              <a:rPr sz="2400" dirty="0">
                <a:solidFill>
                  <a:srgbClr val="FFFFFF"/>
                </a:solidFill>
                <a:latin typeface="Times New Roman"/>
              </a:rPr>
              <a:t>Uses weather, wave, and route-risk awareness to improve decisions under changing sea conditions</a:t>
            </a:r>
            <a:r>
              <a:rPr sz="1500" dirty="0">
                <a:solidFill>
                  <a:srgbClr val="FFFFFF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028700"/>
            <a:ext cx="1337767" cy="1535277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616" y="1028700"/>
            <a:ext cx="2044598" cy="1535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0" y="1444752"/>
            <a:ext cx="1243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Times New Roman"/>
              </a:rPr>
              <a:t>SYSTEM LOGIN PARAMETER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67712"/>
            <a:ext cx="1463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05050"/>
                </a:solidFill>
                <a:latin typeface="Times New Roman"/>
              </a:rPr>
              <a:t>Role-based access for Fisherman, Crew and Admin with vessel identity and nationality selection.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697480"/>
            <a:ext cx="11430000" cy="610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hatsApp Image 2026-08-27 at 1.09.34 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743200"/>
            <a:ext cx="11338560" cy="60094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9372600"/>
            <a:ext cx="1463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505050"/>
                </a:solidFill>
                <a:latin typeface="Times New Roman"/>
              </a:rPr>
              <a:t>Supports SDG 14 by enabling accountable and safer fishing-vessel access before navigation.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028700"/>
            <a:ext cx="1337767" cy="1535277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616" y="1028700"/>
            <a:ext cx="2044598" cy="1535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0" y="1444752"/>
            <a:ext cx="1243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Times New Roman"/>
              </a:rPr>
              <a:t>LIVE MAP: WARNING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67712"/>
            <a:ext cx="1463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05050"/>
                </a:solidFill>
                <a:latin typeface="Times New Roman"/>
              </a:rPr>
              <a:t>Dashboard view showing vessel metrics, boundary distance, and medium risk-level monitoring.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89150" y="2743200"/>
            <a:ext cx="11709698" cy="6263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hatsApp Image 2026-08-27 at 1.11.39 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870" y="2788920"/>
            <a:ext cx="11618258" cy="6172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9372600"/>
            <a:ext cx="1463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505050"/>
                </a:solidFill>
                <a:latin typeface="Times New Roman"/>
              </a:rPr>
              <a:t>Supports SDG 14 by warning fishermen before entering risky or protected maritime zones.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028700"/>
            <a:ext cx="1337767" cy="1535277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616" y="1028700"/>
            <a:ext cx="2044598" cy="1535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0" y="1444752"/>
            <a:ext cx="1243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Times New Roman"/>
              </a:rPr>
              <a:t>LIVE MAP: DANGER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67712"/>
            <a:ext cx="1463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05050"/>
                </a:solidFill>
                <a:latin typeface="Times New Roman"/>
              </a:rPr>
              <a:t>Dashboard view showing restricted-zone risk, probability engine, and emergency decision support.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2787" y="2743200"/>
            <a:ext cx="11682425" cy="6263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hatsApp Image 2026-08-27 at 1.10.47 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507" y="2788920"/>
            <a:ext cx="11590985" cy="6172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9372600"/>
            <a:ext cx="1463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505050"/>
                </a:solidFill>
                <a:latin typeface="Times New Roman"/>
              </a:rPr>
              <a:t>Supports SDG 14 by reducing accidental boundary violations and improving marine-safety response.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028700"/>
            <a:ext cx="1337767" cy="1535277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616" y="1028700"/>
            <a:ext cx="2044598" cy="1535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0" y="1444752"/>
            <a:ext cx="1243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Times New Roman"/>
              </a:rPr>
              <a:t>ACTIVITY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67712"/>
            <a:ext cx="1463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05050"/>
                </a:solidFill>
                <a:latin typeface="Times New Roman"/>
              </a:rPr>
              <a:t>Flow of login, live map navigation, boundary checking, alert generation, SOS and logout.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4232" y="2651760"/>
            <a:ext cx="5119535" cy="6720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hatsApp Image 2026-08-27 at 1.14.26 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952" y="2697480"/>
            <a:ext cx="5028095" cy="6629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9372600"/>
            <a:ext cx="1463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505050"/>
                </a:solidFill>
                <a:latin typeface="Times New Roman"/>
              </a:rPr>
              <a:t>OOAD view: describes the operational workflow from authentication to alert handling.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028700"/>
            <a:ext cx="1337767" cy="1535277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616" y="1028700"/>
            <a:ext cx="2044598" cy="1535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0" y="1444752"/>
            <a:ext cx="1243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Times New Roman"/>
              </a:rPr>
              <a:t>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67712"/>
            <a:ext cx="1463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05050"/>
                </a:solidFill>
                <a:latin typeface="Times New Roman"/>
              </a:rPr>
              <a:t>Core classes such as User, Fisherman, Vessel, Alert, Notification, Message, Crew Member and Admin.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47937" y="2651760"/>
            <a:ext cx="5192125" cy="6720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hatsApp Image 2026-08-27 at 1.14.53 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657" y="2697480"/>
            <a:ext cx="5100685" cy="6629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9372600"/>
            <a:ext cx="1463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505050"/>
                </a:solidFill>
                <a:latin typeface="Times New Roman"/>
              </a:rPr>
              <a:t>OOAD view: shows how SafeSea entities and responsibilities are structured.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028700"/>
            <a:ext cx="1337767" cy="1535277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616" y="1028700"/>
            <a:ext cx="2044598" cy="1535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0" y="1444752"/>
            <a:ext cx="1243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Times New Roman"/>
              </a:rPr>
              <a:t>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67712"/>
            <a:ext cx="1463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05050"/>
                </a:solidFill>
                <a:latin typeface="Times New Roman"/>
              </a:rPr>
              <a:t>Actors and system functions for Fisherman, Crew Member and Admin.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55927" y="2651760"/>
            <a:ext cx="5976145" cy="6720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hatsApp Image 2026-08-27 at 1.19.35 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647" y="2697480"/>
            <a:ext cx="5884705" cy="6629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9372600"/>
            <a:ext cx="1463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505050"/>
                </a:solidFill>
                <a:latin typeface="Times New Roman"/>
              </a:rPr>
              <a:t>OOAD view: maps user interactions such as view map, manage users, send alerts and send SOS.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5F353-F45F-64C4-26D5-CC693AA6C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81E5D9-54FE-4B24-BFD6-88C16194950B}"/>
              </a:ext>
            </a:extLst>
          </p:cNvPr>
          <p:cNvSpPr/>
          <p:nvPr/>
        </p:nvSpPr>
        <p:spPr>
          <a:xfrm>
            <a:off x="1028700" y="1028700"/>
            <a:ext cx="1337240" cy="1535350"/>
          </a:xfrm>
          <a:custGeom>
            <a:avLst/>
            <a:gdLst/>
            <a:ahLst/>
            <a:cxnLst/>
            <a:rect l="l" t="t" r="r" b="b"/>
            <a:pathLst>
              <a:path w="1337240" h="1535350">
                <a:moveTo>
                  <a:pt x="0" y="0"/>
                </a:moveTo>
                <a:lnTo>
                  <a:pt x="1337240" y="0"/>
                </a:lnTo>
                <a:lnTo>
                  <a:pt x="1337240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A2CAE13-5681-5E1A-5317-A0911795FB81}"/>
              </a:ext>
            </a:extLst>
          </p:cNvPr>
          <p:cNvSpPr/>
          <p:nvPr/>
        </p:nvSpPr>
        <p:spPr>
          <a:xfrm>
            <a:off x="15215091" y="1028700"/>
            <a:ext cx="2044209" cy="1535350"/>
          </a:xfrm>
          <a:custGeom>
            <a:avLst/>
            <a:gdLst/>
            <a:ahLst/>
            <a:cxnLst/>
            <a:rect l="l" t="t" r="r" b="b"/>
            <a:pathLst>
              <a:path w="2044209" h="1535350">
                <a:moveTo>
                  <a:pt x="0" y="0"/>
                </a:moveTo>
                <a:lnTo>
                  <a:pt x="2044209" y="0"/>
                </a:lnTo>
                <a:lnTo>
                  <a:pt x="2044209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D562337-9829-4657-7C4E-16A37762BC55}"/>
              </a:ext>
            </a:extLst>
          </p:cNvPr>
          <p:cNvSpPr txBox="1"/>
          <p:nvPr/>
        </p:nvSpPr>
        <p:spPr>
          <a:xfrm>
            <a:off x="4521837" y="1640374"/>
            <a:ext cx="9244326" cy="836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0658DB-66AD-50A8-A182-B9E434449A2F}"/>
              </a:ext>
            </a:extLst>
          </p:cNvPr>
          <p:cNvSpPr txBox="1"/>
          <p:nvPr/>
        </p:nvSpPr>
        <p:spPr>
          <a:xfrm>
            <a:off x="2613147" y="3162300"/>
            <a:ext cx="1306170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SafeSea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intelligent solution for preventing accidental maritime boundary crossings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real-time monitoring and decision-support mechanisms for safer navigation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mechanisms and multilingual communication improve user safety and awareness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 and modern software engineering practices enhance reliability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SafeSea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contributes to secure and efficient maritime operations for fishermen</a:t>
            </a:r>
          </a:p>
        </p:txBody>
      </p:sp>
    </p:spTree>
    <p:extLst>
      <p:ext uri="{BB962C8B-B14F-4D97-AF65-F5344CB8AC3E}">
        <p14:creationId xmlns:p14="http://schemas.microsoft.com/office/powerpoint/2010/main" val="1662778041"/>
      </p:ext>
    </p:extLst>
  </p:cSld>
  <p:clrMapOvr>
    <a:masterClrMapping/>
  </p:clrMapOvr>
  <p:transition spd="slow">
    <p:comb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2DB2E-F9D3-38DC-7C55-848ADE78B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7D83D0-D8D0-E32F-5FF8-E87F4FF8873A}"/>
              </a:ext>
            </a:extLst>
          </p:cNvPr>
          <p:cNvSpPr/>
          <p:nvPr/>
        </p:nvSpPr>
        <p:spPr>
          <a:xfrm>
            <a:off x="1028700" y="1028700"/>
            <a:ext cx="1337240" cy="1535350"/>
          </a:xfrm>
          <a:custGeom>
            <a:avLst/>
            <a:gdLst/>
            <a:ahLst/>
            <a:cxnLst/>
            <a:rect l="l" t="t" r="r" b="b"/>
            <a:pathLst>
              <a:path w="1337240" h="1535350">
                <a:moveTo>
                  <a:pt x="0" y="0"/>
                </a:moveTo>
                <a:lnTo>
                  <a:pt x="1337240" y="0"/>
                </a:lnTo>
                <a:lnTo>
                  <a:pt x="1337240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C2ABB62-5912-5FFF-1503-D22FAE97B5C1}"/>
              </a:ext>
            </a:extLst>
          </p:cNvPr>
          <p:cNvSpPr/>
          <p:nvPr/>
        </p:nvSpPr>
        <p:spPr>
          <a:xfrm>
            <a:off x="15215091" y="1028700"/>
            <a:ext cx="2044209" cy="1535350"/>
          </a:xfrm>
          <a:custGeom>
            <a:avLst/>
            <a:gdLst/>
            <a:ahLst/>
            <a:cxnLst/>
            <a:rect l="l" t="t" r="r" b="b"/>
            <a:pathLst>
              <a:path w="2044209" h="1535350">
                <a:moveTo>
                  <a:pt x="0" y="0"/>
                </a:moveTo>
                <a:lnTo>
                  <a:pt x="2044209" y="0"/>
                </a:lnTo>
                <a:lnTo>
                  <a:pt x="2044209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D2FB733-EEE7-92CE-A4B9-B24BA6B94166}"/>
              </a:ext>
            </a:extLst>
          </p:cNvPr>
          <p:cNvSpPr txBox="1"/>
          <p:nvPr/>
        </p:nvSpPr>
        <p:spPr>
          <a:xfrm>
            <a:off x="4521837" y="1640374"/>
            <a:ext cx="9244326" cy="836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16347-BAAD-30A9-285C-DDA4BFA6AB1D}"/>
              </a:ext>
            </a:extLst>
          </p:cNvPr>
          <p:cNvSpPr txBox="1"/>
          <p:nvPr/>
        </p:nvSpPr>
        <p:spPr>
          <a:xfrm>
            <a:off x="2133600" y="2857500"/>
            <a:ext cx="140208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 Prete, R.,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Salvoldi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Barretta, D.,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Longépé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N., Meoni, G.,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Karnieli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Graziano, M. D., &amp; Renga, A. (2024). Enhancing maritime situational awareness through end-to-end onboard raw data analysis.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Xie, Z., Tu, E., Fu, X., Yuan, G., &amp; Han, Y. (2025). AIS data-driven maritime monitoring based on transformer: A comprehensive review.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Huang, J., Wang, A., Sun, G., Li, J., Wang, J.,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Niyato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&amp; Leung, V. C. M. (2025). Low-altitude friendly-jamming for satellite-maritime communications via generative AI-enabled deep reinforcement learning.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Huang, J., Wang, A., Sun, G., Li, J., Wang, J., Yuan, W.,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Niyato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&amp; Wang, X. (2025). Secure low-altitude maritime communications via intelligent jamming.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Akdeniz, G., &amp;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Nakilcioglu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C. (2026). Generating realistic, protocol-compliant maritime radio dialogues using self-instruct and low-rank adaptation.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Vasstein, K., et al. (2025).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PyGemini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Unified software development towards maritime autonomy systems.</a:t>
            </a:r>
          </a:p>
        </p:txBody>
      </p:sp>
    </p:spTree>
    <p:extLst>
      <p:ext uri="{BB962C8B-B14F-4D97-AF65-F5344CB8AC3E}">
        <p14:creationId xmlns:p14="http://schemas.microsoft.com/office/powerpoint/2010/main" val="1586082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1337240" cy="1535350"/>
          </a:xfrm>
          <a:custGeom>
            <a:avLst/>
            <a:gdLst/>
            <a:ahLst/>
            <a:cxnLst/>
            <a:rect l="l" t="t" r="r" b="b"/>
            <a:pathLst>
              <a:path w="1337240" h="1535350">
                <a:moveTo>
                  <a:pt x="0" y="0"/>
                </a:moveTo>
                <a:lnTo>
                  <a:pt x="1337240" y="0"/>
                </a:lnTo>
                <a:lnTo>
                  <a:pt x="1337240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15091" y="1028700"/>
            <a:ext cx="2044209" cy="1535350"/>
          </a:xfrm>
          <a:custGeom>
            <a:avLst/>
            <a:gdLst/>
            <a:ahLst/>
            <a:cxnLst/>
            <a:rect l="l" t="t" r="r" b="b"/>
            <a:pathLst>
              <a:path w="2044209" h="1535350">
                <a:moveTo>
                  <a:pt x="0" y="0"/>
                </a:moveTo>
                <a:lnTo>
                  <a:pt x="2044209" y="0"/>
                </a:lnTo>
                <a:lnTo>
                  <a:pt x="2044209" y="1535350"/>
                </a:lnTo>
                <a:lnTo>
                  <a:pt x="0" y="153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733800" y="3831370"/>
            <a:ext cx="10493084" cy="2163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365"/>
              </a:lnSpc>
              <a:spcBef>
                <a:spcPct val="0"/>
              </a:spcBef>
            </a:pPr>
            <a:r>
              <a:rPr lang="en-US" sz="1311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1378</Words>
  <Application>Microsoft Office PowerPoint</Application>
  <PresentationFormat>Custom</PresentationFormat>
  <Paragraphs>139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Times New Roman Bold</vt:lpstr>
      <vt:lpstr>Calibri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AIRLINE CREW SCHEDULING SYSTEM USING BACKTRACKING TECHNIQUES</dc:title>
  <dc:creator>tej</dc:creator>
  <cp:lastModifiedBy>Tejaswini M</cp:lastModifiedBy>
  <cp:revision>8</cp:revision>
  <dcterms:created xsi:type="dcterms:W3CDTF">2006-08-16T00:00:00Z</dcterms:created>
  <dcterms:modified xsi:type="dcterms:W3CDTF">2026-08-27T07:01:41Z</dcterms:modified>
  <dc:identifier>DAHMhaZ0BH4</dc:identifier>
</cp:coreProperties>
</file>